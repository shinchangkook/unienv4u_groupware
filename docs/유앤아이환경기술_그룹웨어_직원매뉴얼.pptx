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00000"/>
            <a:ext cx="10692000" cy="2160000"/>
          </a:xfrm>
          <a:prstGeom prst="rect">
            <a:avLst/>
          </a:prstGeom>
          <a:solidFill>
            <a:srgbClr val="183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8000" y="1872000"/>
            <a:ext cx="1440000" cy="14400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9252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유앤아이환경기술(주)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320000"/>
            <a:ext cx="9252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통합 그룹웨어 · 직원 사용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760000"/>
            <a:ext cx="9252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각 메뉴를 처음 쓰는 직원도 바로 따라 할 수 있는 화면별 안내서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FB2CC"/>
                </a:solidFill>
                <a:latin typeface="맑은 고딕"/>
                <a:ea typeface="맑은 고딕"/>
                <a:cs typeface="맑은 고딕"/>
              </a:rPr>
              <a:t>버전 MVP    ·    작성일 2026-07-14    ·    http://localhost:5173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2000" cy="7560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9360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목차 · 이 매뉴얼의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008000"/>
            <a:ext cx="9252000" cy="254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22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20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그룹웨어 접속·계정 로그인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194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94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192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대시보드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오늘의 업무 현황을 한눈에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266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6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264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공지사항/게시판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사내 공지·자유게시판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338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338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336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전자결재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기안→팀장→대표이사 결재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10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10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408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일정/캘린더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회사·개인 일정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482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482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000" y="480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업무일지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일자별 현장·측정 기록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554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554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000" y="552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인사관리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사원 정보·인사발령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626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626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000" y="624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휴가관리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휴가 신청·연차 자동 계산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0" y="122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0" y="122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8000" y="120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계약·미수금관리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계약·청구/수금·미수금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0" y="194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0" y="194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8000" y="192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환경질현황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환경측정 성적서·관리번호 채번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0" y="266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0000" y="266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8000" y="264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거래처등록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거래처 등록·엑셀 일괄등록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0" y="338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0000" y="338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8000" y="336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계정과목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회계 계정과목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0" y="410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00000" y="410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8000" y="408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계정별원장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계정과목별 거래내역·잔액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0" y="482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00" y="482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68000" y="480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거래처원장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거래처별 잔액·거래내역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00000" y="554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0000" y="554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8000" y="552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장비관리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장비대장·이상보고서·교정현황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0000" y="6264000"/>
            <a:ext cx="396000" cy="396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00000" y="6264000"/>
            <a:ext cx="396000" cy="39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68000" y="6246000"/>
            <a:ext cx="403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회원정보 관리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가입 승인·메뉴 권한(마스터 전용)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0. 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그룹웨어 접속·계정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회사에서 부여받은 아이디(이메일)와 비밀번호로 로그인하는 첫 화면입니다.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접속 주소로 들어갑니다.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아이디(이메일)·비밀번호를 입력합니다.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[로그인] 버튼을 누릅니다.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④ (데모) 하단 데모 계정 버튼으로 자동 로그인 가능.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6660000"/>
            <a:ext cx="3420000" cy="576000"/>
          </a:xfrm>
          <a:prstGeom prst="rect">
            <a:avLst/>
          </a:prstGeom>
          <a:solidFill>
            <a:srgbClr val="F2F5F9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6660000"/>
            <a:ext cx="327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💡 비밀번호 분실 시 마스터에게 문의. 로그인 정보는 공유하지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(로그인)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오늘의 업무 현황을 한눈에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로그인 후 첫 화면. 오늘 처리할 업무를 요약 카드로 보여줍니다.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총 계약금액·미수금·결재 대기·휴가 승인 대기·환경 성적서 현황을 표시.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23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요약 카드에서 내 처리 대기 건수를 확인합니다.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최근 전자결재에서 문서 진행 상태를 봅니다.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공지사항에서 새 공지를 확인합니다.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6660000"/>
            <a:ext cx="3420000" cy="576000"/>
          </a:xfrm>
          <a:prstGeom prst="rect">
            <a:avLst/>
          </a:prstGeom>
          <a:solidFill>
            <a:srgbClr val="F2F5F9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6660000"/>
            <a:ext cx="327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💡 결재·휴가 대기 건수를 누르면 해당 업무로 바로 이동.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(대시보드)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공지사항 / 게시판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사내 공지·자유게시판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사내 공지사항과 자유게시판 글을 확인·작성하는 곳입니다.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목록에서 제목을 눌러 내용을 확인합니다.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[＋글 작성]으로 새 글을 등록합니다.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공지/자유게시판 구분에 맞게 저장합니다.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(공지사항 / 게시판)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전자결재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기안→팀장→대표이사 결재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지출·구매·출장 등 문서를 기안→팀장→대표이사 순으로 결재받습니다.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[＋기안 작성]으로 문서 종류·제목·금액 입력.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상신하면 결재선을 따라 전달됩니다.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결재자는 문서를 열어 [승인]/[반려].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④ 목록에서 상태(검토중·승인·반려) 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(전자결재)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일정 / 캘린더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회사·개인 일정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회사·부서·개인 일정을 달력 형태로 관리합니다.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달력에서 해당 월 일정을 확인합니다.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[다가오는 일정]으로 임박 일정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[＋일정 등록]으로 제목·날짜 입력.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(일정 / 캘린더)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업무일지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일자별 현장·측정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일자별 현장·측정 업무 내용을 기록·조회합니다.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날짜 선택 후 [＋작성]을 누릅니다.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현장명·측정 항목·내용을 입력·저장.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목록에서 과거 일지를 검색·확인.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or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(업무일지)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인사관리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사원 정보·인사발령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전 사원의 인사 정보와 인사발령·인사기록카드를 관리합니다.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[사원 목록] / [인사발령] 탭으로 구성.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23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[사원 목록] 탭에서 직원 정보 조회.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이름을 눌러 인사기록카드 상세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[인사발령] 탭에서 발령 이력 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6660000"/>
            <a:ext cx="3420000" cy="576000"/>
          </a:xfrm>
          <a:prstGeom prst="rect">
            <a:avLst/>
          </a:prstGeom>
          <a:solidFill>
            <a:srgbClr val="F2F5F9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6660000"/>
            <a:ext cx="327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ℹ️ 정보 수정·발령 등록은 권한 담당자만 가능.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(인사관리)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휴가관리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휴가 신청·연차 자동 계산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휴가를 신청·결재받고, 근로기준법 기준 연차가 자동 계산됩니다.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[휴가 신청] 버튼을 누릅니다.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시작일·종료일·사유를 입력합니다.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[신청]으로 상신 → 결재선 승인.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④ 신청 내역에서 승인 상태 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6660000"/>
            <a:ext cx="3420000" cy="576000"/>
          </a:xfrm>
          <a:prstGeom prst="rect">
            <a:avLst/>
          </a:prstGeom>
          <a:solidFill>
            <a:srgbClr val="F2F5F9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6660000"/>
            <a:ext cx="327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💡 연차 잔여일수는 입사일 기준 자동 계산.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(휴가관리)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8. 계약·미수금관리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계약·청구/수금·미수금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수주 계약과 청구/수금, 미수금·대손 현황을 통합 관리합니다.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[통합 계약]/[미수금 현황]/[청구·수금] 탭으로 구성.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23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[통합 계약] 탭에서 진행률·미수금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[＋계약 등록]으로 새 계약 추가.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[미수금 현황] 탭에서 회수 필요액 점검.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(계약·미수금관리)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 환경질현황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환경측정 성적서·관리번호 채번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환경측정 성적서를 작성·조회하고 관리번호를 자동 채번합니다.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관리번호 형식: 연도-발주처코드-순번.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23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연도·발주처 코드 선택 → 관리번호 미리보기.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[＋성적서 작성]으로 새 성적서 등록.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목록에서 작성중/완료 상태 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(환경질현황)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10. 거래처등록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거래처 등록·엑셀 일괄등록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거래처(발주처·협력사) 정보를 등록·관리합니다. 엑셀 일괄 등록 지원.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[＋거래처 등록]으로 상호·사업자번호·연락처 입력.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[등록]으로 저장합니다.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[템플릿 다운로드]→작성→[엑셀 업로드]로 일괄등록.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ent-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(거래처등록)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11. 계정과목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회계 계정과목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회계 처리를 위한 계정과목 체계를 관리합니다.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목록에서 계정과목 체계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[＋계정 추가]로 새 계정과목 등록.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계정별원장·거래처원장과 연동됩니다.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(계정과목)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12. 계정별원장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계정과목별 거래내역·잔액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계정과목별 거래 내역과 잔액을 조회합니다(연도 자동 추출).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조회할 계정과목을 선택합니다.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해당 연도 전표 내역·잔액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기간·계정을 바꿔 재조회.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cc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(계정별원장)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13. 거래처원장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거래처별 잔액·거래내역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거래처별 잔액과 거래 내역을 조회합니다.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거래처를 선택합니다.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잔액 현황·거래 내역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미수금 관리·수금 계획에 활용.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(거래처원장)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 장비관리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장비대장·이상보고서·교정현황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측정 장비의 대장·이상 보고서·교정 현황을 관리합니다.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[장비 대장]/[이상 보고서]/[교정 현황] 탭으로 구성.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223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520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[장비 대장] 탭에서 장비 목록·상태 확인.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[＋장비 등록]으로 장비 추가.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[이상 보고서]·[교정 현황] 탭에서 관리.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u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(장비관리)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864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4000"/>
            <a:ext cx="10692000" cy="3175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126000"/>
            <a:ext cx="7200000" cy="3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15. 회원정보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540000"/>
            <a:ext cx="79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7D6EA"/>
                </a:solidFill>
                <a:latin typeface="맑은 고딕"/>
                <a:ea typeface="맑은 고딕"/>
                <a:cs typeface="맑은 고딕"/>
              </a:rPr>
              <a:t>가입 승인·메뉴 권한 (마스터 전용)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0" y="288000"/>
            <a:ext cx="144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6C6DC"/>
                </a:solidFill>
                <a:latin typeface="맑은 고딕"/>
                <a:ea typeface="맑은 고딕"/>
                <a:cs typeface="맑은 고딕"/>
              </a:rPr>
              <a:t>유앤아이환경기술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152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무엇을 하는 곳인가요?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440000"/>
            <a:ext cx="34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가입 신청을 승인하고 부서별 메뉴 접근 권한을 설정하는 관리자 전용 화면.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908000"/>
            <a:ext cx="34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FE0"/>
                </a:solidFill>
                <a:latin typeface="맑은 고딕"/>
                <a:ea typeface="맑은 고딕"/>
                <a:cs typeface="맑은 고딕"/>
              </a:rPr>
              <a:t>■ 사용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196000"/>
            <a:ext cx="3420000" cy="21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① 가입 신청 목록에서 [승인]/[거절].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② 부서별 메뉴 권한 표에서 메뉴 on/off.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③ 설정은 즉시 각 직원 사이드바에 반영.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6660000"/>
            <a:ext cx="3420000" cy="576000"/>
          </a:xfrm>
          <a:prstGeom prst="rect">
            <a:avLst/>
          </a:prstGeom>
          <a:solidFill>
            <a:srgbClr val="F2F5F9"/>
          </a:solidFill>
          <a:ln w="12700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6660000"/>
            <a:ext cx="3276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🔒 이 메뉴는 마스터(대표이사) 계정에서만 표시됩니다.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475" y="2217975"/>
            <a:ext cx="6139050" cy="3844050"/>
          </a:xfrm>
          <a:prstGeom prst="rect">
            <a:avLst/>
          </a:prstGeom>
          <a:noFill/>
          <a:ln w="1587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ember-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000" y="2227500"/>
            <a:ext cx="6120000" cy="382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40000" y="6088500"/>
            <a:ext cx="61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▲ 실제 화면 (회원정보 관리)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2000" cy="7560000"/>
          </a:xfrm>
          <a:prstGeom prst="rect">
            <a:avLst/>
          </a:prstGeom>
          <a:solidFill>
            <a:srgbClr val="1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04000"/>
            <a:ext cx="9360000" cy="50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자주 묻는 질문 (FAQ)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080000"/>
            <a:ext cx="9252000" cy="25400"/>
          </a:xfrm>
          <a:prstGeom prst="rect">
            <a:avLst/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440000"/>
            <a:ext cx="9252000" cy="1008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1548000"/>
            <a:ext cx="89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Q. 메뉴가 안 보여요.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908000"/>
            <a:ext cx="8964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부서·직급 권한에 따라 일부 메뉴는 숨겨집니다. 마스터에게 권한을 요청하세요.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2628000"/>
            <a:ext cx="9252000" cy="1008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2736000"/>
            <a:ext cx="89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Q. 결재가 반려됐어요.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3096000"/>
            <a:ext cx="8964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전자결재 목록에서 반려 사유를 확인 후 수정해 다시 상신하세요.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3816000"/>
            <a:ext cx="9252000" cy="1008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000" y="3924000"/>
            <a:ext cx="89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Q. 연차가 실제와 달라요.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4284000"/>
            <a:ext cx="8964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연차는 입사일 기준 근로기준법으로 자동 계산됩니다. 차이 시 인사 담당자에 문의.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5004000"/>
            <a:ext cx="9252000" cy="1008000"/>
          </a:xfrm>
          <a:prstGeom prst="rect">
            <a:avLst/>
          </a:prstGeom>
          <a:solidFill>
            <a:srgbClr val="F2F5F9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" y="5112000"/>
            <a:ext cx="8964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4066"/>
                </a:solidFill>
                <a:latin typeface="맑은 고딕"/>
                <a:ea typeface="맑은 고딕"/>
                <a:cs typeface="맑은 고딕"/>
              </a:rPr>
              <a:t>Q. 거래처를 한꺼번에 등록하고 싶어요.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5472000"/>
            <a:ext cx="8964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A33"/>
                </a:solidFill>
                <a:latin typeface="맑은 고딕"/>
                <a:ea typeface="맑은 고딕"/>
                <a:cs typeface="맑은 고딕"/>
              </a:rPr>
              <a:t>거래처등록에서 템플릿(.xlsx)을 받아 채운 뒤 엑셀 업로드로 일괄 등록하세요.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6768000"/>
            <a:ext cx="9252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맑은 고딕"/>
                <a:ea typeface="맑은 고딕"/>
                <a:cs typeface="맑은 고딕"/>
              </a:rPr>
              <a:t>© 유앤아이환경기술(주) · 통합 그룹웨어 직원 매뉴얼 · 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